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49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FC3BB-FEC7-2857-AEB5-F4556D781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33BE0-79AB-7375-CC1D-DA34D26A47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F0882-5635-9559-FF48-B0875DC2B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E22EB-E0A2-41CC-8FCC-35E23FF4D3AB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5A12A-ECB2-8790-6B59-A89AA9397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2209C-0F94-291A-529D-B571EC62B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7BF15-4A7B-431E-9C20-49CE8E6DA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8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05B4D-8FF0-469B-AA8F-5EF01ABBB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A2615-6BCC-63D2-B07D-59879118E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717E3-B549-21AB-890D-25D956C6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E22EB-E0A2-41CC-8FCC-35E23FF4D3AB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D21FF-E430-273A-0B67-02A5A5004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EBC08-FDD8-8D36-8A48-4F17D7B77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7BF15-4A7B-431E-9C20-49CE8E6DA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195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A4571-9B20-C5A8-160E-9683629C8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6B6F4-9671-4586-8DA1-040AB57E2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E0D4-26EF-E4B2-3218-683FDA1A5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E22EB-E0A2-41CC-8FCC-35E23FF4D3AB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80302-B84D-1F19-5D7F-62164E5D4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2D68F-ACEB-92C7-90D2-A6CD9DC11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7BF15-4A7B-431E-9C20-49CE8E6DA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72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486C9-287F-15F4-D7D7-571B656C4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B8DDC-AD50-F0F4-1AA3-EEEE1DE00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D5376C-DD01-4CC1-69F6-1236F98385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5B9282-4DFD-9645-D178-E3488F0AA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E22EB-E0A2-41CC-8FCC-35E23FF4D3AB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BC8C9-E190-71E3-8740-29882F5E1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5D470-DAEA-9D67-4E8A-201574A11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7BF15-4A7B-431E-9C20-49CE8E6DA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727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B88B1-8D4B-AD90-06F3-66DFA3269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260F8-F82D-16E0-C45D-A774ECFD8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4B5CEC-19EC-6FE0-2611-3CD18D0BA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1D8077-0C20-31D4-D89C-BC13B67D5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925840-7E16-5A9B-B920-634D228963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7A0BC8-384B-1321-A7D5-24BD8F4A6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E22EB-E0A2-41CC-8FCC-35E23FF4D3AB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9CE654-E7BE-9A6C-308B-DFF2B9808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3DA364-8D67-FFAB-B8EC-F91D7C0C9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7BF15-4A7B-431E-9C20-49CE8E6DA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27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8A647-DD49-C1B5-5EFA-7255B03A7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050B7E-D98D-2B53-9CC5-23B86F13C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E22EB-E0A2-41CC-8FCC-35E23FF4D3AB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88BA89-D205-7962-6EDC-18DCEEA22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A7B904-2071-DCA5-25F4-EB570406A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7BF15-4A7B-431E-9C20-49CE8E6DA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03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472647-CCF5-24BC-8A6A-35AB4CCD0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E22EB-E0A2-41CC-8FCC-35E23FF4D3AB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A1A609-23FC-DBAD-2B42-32EEAADE8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11F25-D051-0A28-8FF7-162A0E82C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7BF15-4A7B-431E-9C20-49CE8E6DA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035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95E6E-3B5F-CA54-36E3-7980E3A99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E1140-C6FA-64FA-6AB0-7F22934E4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6A490-DC09-D308-76CE-EAE714597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344D7-A67D-1B8A-B0BB-BA0D1E3AB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E22EB-E0A2-41CC-8FCC-35E23FF4D3AB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59BB3B-CF6D-ED50-65F0-883E85769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E1B77-A7C3-47FF-62CF-D01E95EAE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7BF15-4A7B-431E-9C20-49CE8E6DA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036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628AC-0A70-B028-3FB0-FE7F99CFE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3D9363-CB7A-ACBB-60C5-FC6ED1AD6B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08F55-6454-6DF2-3CB0-C06CC8705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1E54D-6FE3-E2EC-4624-75B8E827A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E22EB-E0A2-41CC-8FCC-35E23FF4D3AB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DED93-6D5F-EFDB-4B72-80FFB45DE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D6A5F-A8B9-1BBE-9DC9-8CFFBC266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7BF15-4A7B-431E-9C20-49CE8E6DA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705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31664-F775-189A-F9F8-8399A6864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055B09-C98B-0B02-6009-610A6CE22C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8F773-8C9B-3576-993E-7DFB71D8C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E22EB-E0A2-41CC-8FCC-35E23FF4D3AB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7A91D-0F1C-9DE5-5D25-705370756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E866B-7D94-91E7-B866-1BDE73B55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7BF15-4A7B-431E-9C20-49CE8E6DA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012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1A0973-C705-C048-40EB-260A2CE872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346855-04A0-93BB-AE9C-E98F10587C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4CA2B-78D4-D3AF-96DC-731361A3D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6E22EB-E0A2-41CC-8FCC-35E23FF4D3AB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EA408-1C86-90AC-501C-EE44F440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805FD-AFCA-F3BC-C7FB-B82B9F965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7BF15-4A7B-431E-9C20-49CE8E6DA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696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C703B9-709C-6BF6-8725-4EC6DA6A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1607A-A232-F7C1-8848-8A3C616BF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D53CE-2501-1785-3B30-F4854A250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6E22EB-E0A2-41CC-8FCC-35E23FF4D3AB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8A085-D2C8-9942-AFAE-B4EF92FF16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1AF10-F57D-98FE-0C35-E5F3227C8B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7BF15-4A7B-431E-9C20-49CE8E6DA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03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069F25-0157-1BFB-7102-92432C75BA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7A319C-97EF-8D86-1D6B-38F812177A66}"/>
              </a:ext>
            </a:extLst>
          </p:cNvPr>
          <p:cNvSpPr/>
          <p:nvPr/>
        </p:nvSpPr>
        <p:spPr>
          <a:xfrm>
            <a:off x="508000" y="1143000"/>
            <a:ext cx="4064000" cy="3556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38BDF8"/>
                </a:solidFill>
                <a:latin typeface="Segoe UI" panose="020B0502040204020203" pitchFamily="34" charset="0"/>
              </a:rPr>
              <a:t>ACADEMIC RESEARCH &amp; DEFENSE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AFBA08-7CB3-C44D-B0D2-68150CFB8B22}"/>
              </a:ext>
            </a:extLst>
          </p:cNvPr>
          <p:cNvSpPr txBox="1"/>
          <p:nvPr/>
        </p:nvSpPr>
        <p:spPr>
          <a:xfrm>
            <a:off x="508000" y="1651000"/>
            <a:ext cx="11176000" cy="126188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800" b="1">
                <a:solidFill>
                  <a:srgbClr val="FFFFFF"/>
                </a:solidFill>
                <a:latin typeface="Segoe UI" panose="020B0502040204020203" pitchFamily="34" charset="0"/>
              </a:rPr>
              <a:t>Adaptive Personalized Diet
Recommendation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EE3A16-C803-4EC8-5042-11350E7D45D8}"/>
              </a:ext>
            </a:extLst>
          </p:cNvPr>
          <p:cNvSpPr txBox="1"/>
          <p:nvPr/>
        </p:nvSpPr>
        <p:spPr>
          <a:xfrm>
            <a:off x="508000" y="3302000"/>
            <a:ext cx="1117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38BDF8"/>
                </a:solidFill>
                <a:latin typeface="Segoe UI" panose="020B0502040204020203" pitchFamily="34" charset="0"/>
              </a:rPr>
              <a:t>Nutrient Optimization + Multi-Constraint Satisfaction + Real-Time Preference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94ABCC-885E-92A3-768E-1F030ED27617}"/>
              </a:ext>
            </a:extLst>
          </p:cNvPr>
          <p:cNvSpPr txBox="1"/>
          <p:nvPr/>
        </p:nvSpPr>
        <p:spPr>
          <a:xfrm>
            <a:off x="508000" y="4826000"/>
            <a:ext cx="11176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949FB8"/>
                </a:solidFill>
                <a:latin typeface="Segoe UI" panose="020B0502040204020203" pitchFamily="34" charset="0"/>
              </a:rPr>
              <a:t>Domain: Artificial Intelligence &amp; Health Informatics
Architecture: 100% Client-Side Private Web Execution
Academic Year: 2026 - 2027</a:t>
            </a:r>
          </a:p>
        </p:txBody>
      </p:sp>
    </p:spTree>
    <p:extLst>
      <p:ext uri="{BB962C8B-B14F-4D97-AF65-F5344CB8AC3E}">
        <p14:creationId xmlns:p14="http://schemas.microsoft.com/office/powerpoint/2010/main" val="2362819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6D7723-C306-7BDC-D8D8-A48BB1D374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7F7D2A-3491-F800-EFB3-BEEA09E62CE6}"/>
              </a:ext>
            </a:extLst>
          </p:cNvPr>
          <p:cNvSpPr/>
          <p:nvPr/>
        </p:nvSpPr>
        <p:spPr>
          <a:xfrm>
            <a:off x="508000" y="317500"/>
            <a:ext cx="3302000" cy="3048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38BDF8"/>
                </a:solidFill>
                <a:latin typeface="Segoe UI" panose="020B0502040204020203" pitchFamily="34" charset="0"/>
              </a:rPr>
              <a:t>CHAPTER 1: 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2D0F49-A392-7314-18FA-79E68D6D2680}"/>
              </a:ext>
            </a:extLst>
          </p:cNvPr>
          <p:cNvSpPr txBox="1"/>
          <p:nvPr/>
        </p:nvSpPr>
        <p:spPr>
          <a:xfrm>
            <a:off x="508000" y="660400"/>
            <a:ext cx="11176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Background &amp; Clinical Motivation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9EA45F-0E20-D357-B309-CB000F41AF0B}"/>
              </a:ext>
            </a:extLst>
          </p:cNvPr>
          <p:cNvSpPr/>
          <p:nvPr/>
        </p:nvSpPr>
        <p:spPr>
          <a:xfrm>
            <a:off x="508000" y="1524000"/>
            <a:ext cx="3556000" cy="469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6CF469-CEDF-EAB9-BFCF-D23D9B416450}"/>
              </a:ext>
            </a:extLst>
          </p:cNvPr>
          <p:cNvSpPr txBox="1"/>
          <p:nvPr/>
        </p:nvSpPr>
        <p:spPr>
          <a:xfrm>
            <a:off x="711200" y="1676400"/>
            <a:ext cx="3149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Global Health Challenge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9DDEBB-9E6B-56A4-1983-69310AB4E0DD}"/>
              </a:ext>
            </a:extLst>
          </p:cNvPr>
          <p:cNvSpPr txBox="1"/>
          <p:nvPr/>
        </p:nvSpPr>
        <p:spPr>
          <a:xfrm>
            <a:off x="711200" y="2095500"/>
            <a:ext cx="3149600" cy="110799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- Global surge in lifestyle diseases: Obesity, Type-2 Diabetes, Hypertension, CVD.
- Poor diet is the leading risk factor for premature mortality worldwide (WHO).
- Translating abstract dietary guidelines into meals is cognitively overwhelming for users.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8A8843-D812-C0C7-2966-0C1D4636373A}"/>
              </a:ext>
            </a:extLst>
          </p:cNvPr>
          <p:cNvSpPr/>
          <p:nvPr/>
        </p:nvSpPr>
        <p:spPr>
          <a:xfrm>
            <a:off x="4318000" y="1524000"/>
            <a:ext cx="3556000" cy="469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268809-1FE4-08FF-2A3F-D84205C85F38}"/>
              </a:ext>
            </a:extLst>
          </p:cNvPr>
          <p:cNvSpPr txBox="1"/>
          <p:nvPr/>
        </p:nvSpPr>
        <p:spPr>
          <a:xfrm>
            <a:off x="4521200" y="1676400"/>
            <a:ext cx="3149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Why Generic Diets Fail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DB685B-153F-A322-9689-F2173353A05E}"/>
              </a:ext>
            </a:extLst>
          </p:cNvPr>
          <p:cNvSpPr txBox="1"/>
          <p:nvPr/>
        </p:nvSpPr>
        <p:spPr>
          <a:xfrm>
            <a:off x="4521200" y="2095500"/>
            <a:ext cx="3149600" cy="110799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- 'One-size-fits-all' ignores individual age, gender, weight, activity &amp; metabolism.
- Extreme meal monotony and taste fatigue cause 80%+ diet abandonment within weeks.
- Rigid calorie counting ignores cultural cuisines and personal taste dynamics.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CDE2A8-9D9E-6BD5-006C-A359AC819BE0}"/>
              </a:ext>
            </a:extLst>
          </p:cNvPr>
          <p:cNvSpPr/>
          <p:nvPr/>
        </p:nvSpPr>
        <p:spPr>
          <a:xfrm>
            <a:off x="8128000" y="1524000"/>
            <a:ext cx="3556000" cy="46990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A2F33E-C6D5-14D5-8A6D-16E5E69095B8}"/>
              </a:ext>
            </a:extLst>
          </p:cNvPr>
          <p:cNvSpPr txBox="1"/>
          <p:nvPr/>
        </p:nvSpPr>
        <p:spPr>
          <a:xfrm>
            <a:off x="8331200" y="1676400"/>
            <a:ext cx="3149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38BDF8"/>
                </a:solidFill>
                <a:latin typeface="Segoe UI" panose="020B0502040204020203" pitchFamily="34" charset="0"/>
              </a:rPr>
              <a:t>The Engineering Need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B8F63F-E71B-F052-FB8D-6FDD0B4AD01B}"/>
              </a:ext>
            </a:extLst>
          </p:cNvPr>
          <p:cNvSpPr txBox="1"/>
          <p:nvPr/>
        </p:nvSpPr>
        <p:spPr>
          <a:xfrm>
            <a:off x="8331200" y="2095500"/>
            <a:ext cx="3149600" cy="110799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- An intelligent system that computes exact biophysical needs (BMR/TDEE).
- Guaranteed zero-tolerance allergen safety.
- Dynamic adaptation to real-time taste feedback without server retraining.
- 100% privacy-preserving execution.</a:t>
            </a:r>
          </a:p>
        </p:txBody>
      </p:sp>
    </p:spTree>
    <p:extLst>
      <p:ext uri="{BB962C8B-B14F-4D97-AF65-F5344CB8AC3E}">
        <p14:creationId xmlns:p14="http://schemas.microsoft.com/office/powerpoint/2010/main" val="2523060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BA3021-B922-0055-7208-DF8057A211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74E6A9-DC48-B200-3E6F-9D704A983C4E}"/>
              </a:ext>
            </a:extLst>
          </p:cNvPr>
          <p:cNvSpPr/>
          <p:nvPr/>
        </p:nvSpPr>
        <p:spPr>
          <a:xfrm>
            <a:off x="508000" y="317500"/>
            <a:ext cx="3302000" cy="3048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38BDF8"/>
                </a:solidFill>
                <a:latin typeface="Segoe UI" panose="020B0502040204020203" pitchFamily="34" charset="0"/>
              </a:rPr>
              <a:t>CHAPTER 1: 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BA0D81-168D-F550-D384-A85C970D02F1}"/>
              </a:ext>
            </a:extLst>
          </p:cNvPr>
          <p:cNvSpPr txBox="1"/>
          <p:nvPr/>
        </p:nvSpPr>
        <p:spPr>
          <a:xfrm>
            <a:off x="508000" y="660400"/>
            <a:ext cx="11176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Need &amp; Importance in Healthcare Informatics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1A4597-4CEE-1532-A210-284B28EC8CC0}"/>
              </a:ext>
            </a:extLst>
          </p:cNvPr>
          <p:cNvSpPr/>
          <p:nvPr/>
        </p:nvSpPr>
        <p:spPr>
          <a:xfrm>
            <a:off x="508000" y="1524000"/>
            <a:ext cx="5334000" cy="469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03C1EA-A381-8669-0BF1-57BD24505EDB}"/>
              </a:ext>
            </a:extLst>
          </p:cNvPr>
          <p:cNvSpPr txBox="1"/>
          <p:nvPr/>
        </p:nvSpPr>
        <p:spPr>
          <a:xfrm>
            <a:off x="711200" y="1676400"/>
            <a:ext cx="4927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Media RS vs. Nutritional 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D524A6-B35B-803B-75E7-1B4D07DAC02D}"/>
              </a:ext>
            </a:extLst>
          </p:cNvPr>
          <p:cNvSpPr txBox="1"/>
          <p:nvPr/>
        </p:nvSpPr>
        <p:spPr>
          <a:xfrm>
            <a:off x="711200" y="2095500"/>
            <a:ext cx="4927600" cy="168507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Traditional Recommender (Movies / E-Commerce):
- Sub-optimal recommendation -&gt; Mild user annoyance.
- High tolerance for serendipitous exploratory failure.
Nutritional Recommender (Health / Dietetics):
- Sub-optimal recommendation -&gt; Allergen exposure, nutritional deficiency, metabolic risk.
- CRITICAL CLINICAL HAZARD: Zero tolerance for failure.
- Must balance biological safety with culinary enjoyment.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797A4A-32A7-403A-3DAB-397096BAD439}"/>
              </a:ext>
            </a:extLst>
          </p:cNvPr>
          <p:cNvSpPr/>
          <p:nvPr/>
        </p:nvSpPr>
        <p:spPr>
          <a:xfrm>
            <a:off x="6350000" y="1524000"/>
            <a:ext cx="5334000" cy="46990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42314E-1D84-7FDD-1EBD-A31CE5584319}"/>
              </a:ext>
            </a:extLst>
          </p:cNvPr>
          <p:cNvSpPr txBox="1"/>
          <p:nvPr/>
        </p:nvSpPr>
        <p:spPr>
          <a:xfrm>
            <a:off x="6553200" y="1676400"/>
            <a:ext cx="4927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38BDF8"/>
                </a:solidFill>
                <a:latin typeface="Segoe UI" panose="020B0502040204020203" pitchFamily="34" charset="0"/>
              </a:rPr>
              <a:t>Core Requirements in Nutrition AI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6A61AD-61B4-644F-946C-DAD376474D3E}"/>
              </a:ext>
            </a:extLst>
          </p:cNvPr>
          <p:cNvSpPr txBox="1"/>
          <p:nvPr/>
        </p:nvSpPr>
        <p:spPr>
          <a:xfrm>
            <a:off x="6553200" y="2095500"/>
            <a:ext cx="4927600" cy="168507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1. Multi-Slot Convergence:
   Optimizes holistic daily macro targets (Breakfast, Lunch, Dinner, Snacks) rather than isolated dishes.
2. Dynamic Palate Learning:
   Learns evolving taste feedback in real time to prevent diet attrition.
3. Transparent Explainability (XAI):
   Users require clear physiological justifications to adhere to dietary advice.</a:t>
            </a:r>
          </a:p>
        </p:txBody>
      </p:sp>
    </p:spTree>
    <p:extLst>
      <p:ext uri="{BB962C8B-B14F-4D97-AF65-F5344CB8AC3E}">
        <p14:creationId xmlns:p14="http://schemas.microsoft.com/office/powerpoint/2010/main" val="2441015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D09CC1-5F44-6E8E-2DBE-BA8A6F4E5C2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376682-85FD-1E76-6DBC-518AA3D099B0}"/>
              </a:ext>
            </a:extLst>
          </p:cNvPr>
          <p:cNvSpPr/>
          <p:nvPr/>
        </p:nvSpPr>
        <p:spPr>
          <a:xfrm>
            <a:off x="508000" y="317500"/>
            <a:ext cx="3302000" cy="3048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38BDF8"/>
                </a:solidFill>
                <a:latin typeface="Segoe UI" panose="020B0502040204020203" pitchFamily="34" charset="0"/>
              </a:rPr>
              <a:t>CHAPTER 2: LITERATURE SURVEY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0D51B1-40E5-F87E-386C-7374BA125C42}"/>
              </a:ext>
            </a:extLst>
          </p:cNvPr>
          <p:cNvSpPr txBox="1"/>
          <p:nvPr/>
        </p:nvSpPr>
        <p:spPr>
          <a:xfrm>
            <a:off x="508000" y="660400"/>
            <a:ext cx="11176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Critical Research Gaps in Existing Literature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0D2B20-57EC-540E-64D4-A38309B08B1F}"/>
              </a:ext>
            </a:extLst>
          </p:cNvPr>
          <p:cNvSpPr/>
          <p:nvPr/>
        </p:nvSpPr>
        <p:spPr>
          <a:xfrm>
            <a:off x="508000" y="1524000"/>
            <a:ext cx="5334000" cy="2222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7D08AE-EC95-68DB-F224-F753E61156E3}"/>
              </a:ext>
            </a:extLst>
          </p:cNvPr>
          <p:cNvSpPr txBox="1"/>
          <p:nvPr/>
        </p:nvSpPr>
        <p:spPr>
          <a:xfrm>
            <a:off x="711200" y="1676400"/>
            <a:ext cx="4927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Gap 1: Safety Blindness in Nearest-Neighbor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E927AB-8F82-61EA-8695-57A8E03BF8F8}"/>
              </a:ext>
            </a:extLst>
          </p:cNvPr>
          <p:cNvSpPr txBox="1"/>
          <p:nvPr/>
        </p:nvSpPr>
        <p:spPr>
          <a:xfrm>
            <a:off x="711200" y="2095500"/>
            <a:ext cx="4927600" cy="4001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- Conventional KNN models treat allergens as soft distance penalties.
- Result: Frequent critical allergen violations (25.8% failure rate).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9743CD-7E57-B4B0-94FE-E1A1FE5740FE}"/>
              </a:ext>
            </a:extLst>
          </p:cNvPr>
          <p:cNvSpPr/>
          <p:nvPr/>
        </p:nvSpPr>
        <p:spPr>
          <a:xfrm>
            <a:off x="6350000" y="1524000"/>
            <a:ext cx="5334000" cy="2222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FE4F50-59AB-5A36-525D-E8B5336469AC}"/>
              </a:ext>
            </a:extLst>
          </p:cNvPr>
          <p:cNvSpPr txBox="1"/>
          <p:nvPr/>
        </p:nvSpPr>
        <p:spPr>
          <a:xfrm>
            <a:off x="6553200" y="1676400"/>
            <a:ext cx="4927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Gap 2: Static Rigidity (No Real-Time Learning)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B63430-3E74-382D-24BC-4E6AC93562B7}"/>
              </a:ext>
            </a:extLst>
          </p:cNvPr>
          <p:cNvSpPr txBox="1"/>
          <p:nvPr/>
        </p:nvSpPr>
        <p:spPr>
          <a:xfrm>
            <a:off x="6553200" y="2095500"/>
            <a:ext cx="4927600" cy="4001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- Existing apps require tedious manual survey re-entries.
- Palate fatigue and emergent taste dislikes are not adapted in real time.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7A570A-FF01-A4F4-FE54-66BC93BA6CCB}"/>
              </a:ext>
            </a:extLst>
          </p:cNvPr>
          <p:cNvSpPr/>
          <p:nvPr/>
        </p:nvSpPr>
        <p:spPr>
          <a:xfrm>
            <a:off x="508000" y="4000500"/>
            <a:ext cx="5334000" cy="2222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0E36D4-98A5-79F9-0024-886ED3121FC7}"/>
              </a:ext>
            </a:extLst>
          </p:cNvPr>
          <p:cNvSpPr txBox="1"/>
          <p:nvPr/>
        </p:nvSpPr>
        <p:spPr>
          <a:xfrm>
            <a:off x="711200" y="4152900"/>
            <a:ext cx="4927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Gap 3: Extreme Meal Fatigue &amp; Monotony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D9E5CB-F9ED-C32E-2702-52227DA8B90A}"/>
              </a:ext>
            </a:extLst>
          </p:cNvPr>
          <p:cNvSpPr txBox="1"/>
          <p:nvPr/>
        </p:nvSpPr>
        <p:spPr>
          <a:xfrm>
            <a:off x="711200" y="4572000"/>
            <a:ext cx="4927600" cy="4001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- Pure similarity maximizers repeatedly recommend identical dishes.
- Leads to severe meal boredom and high user dropout.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EB98FD-95AF-5660-7CCA-4786319AE3A8}"/>
              </a:ext>
            </a:extLst>
          </p:cNvPr>
          <p:cNvSpPr/>
          <p:nvPr/>
        </p:nvSpPr>
        <p:spPr>
          <a:xfrm>
            <a:off x="6350000" y="4000500"/>
            <a:ext cx="5334000" cy="22225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6937DA-D266-1C27-85F7-CC6311B931BA}"/>
              </a:ext>
            </a:extLst>
          </p:cNvPr>
          <p:cNvSpPr txBox="1"/>
          <p:nvPr/>
        </p:nvSpPr>
        <p:spPr>
          <a:xfrm>
            <a:off x="6553200" y="4152900"/>
            <a:ext cx="4927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38BDF8"/>
                </a:solidFill>
                <a:latin typeface="Segoe UI" panose="020B0502040204020203" pitchFamily="34" charset="0"/>
              </a:rPr>
              <a:t>Gap 4: Black-Box Opacity &amp; Cloud Privacy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6840C3-5352-2435-07A5-985CB507C92E}"/>
              </a:ext>
            </a:extLst>
          </p:cNvPr>
          <p:cNvSpPr txBox="1"/>
          <p:nvPr/>
        </p:nvSpPr>
        <p:spPr>
          <a:xfrm>
            <a:off x="6553200" y="4572000"/>
            <a:ext cx="4927600" cy="577081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- Black-box outputs lack clinical trust and explanation.
- Centralized cloud apps expose sensitive biometrics and incur high hosting fees.</a:t>
            </a:r>
          </a:p>
        </p:txBody>
      </p:sp>
    </p:spTree>
    <p:extLst>
      <p:ext uri="{BB962C8B-B14F-4D97-AF65-F5344CB8AC3E}">
        <p14:creationId xmlns:p14="http://schemas.microsoft.com/office/powerpoint/2010/main" val="4032198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89C305-4FDD-35FC-C700-07BBCECA4D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188FC6-82D2-5FD7-6F11-C3DCCC7F81C5}"/>
              </a:ext>
            </a:extLst>
          </p:cNvPr>
          <p:cNvSpPr/>
          <p:nvPr/>
        </p:nvSpPr>
        <p:spPr>
          <a:xfrm>
            <a:off x="508000" y="317500"/>
            <a:ext cx="3302000" cy="3048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38BDF8"/>
                </a:solidFill>
                <a:latin typeface="Segoe UI" panose="020B0502040204020203" pitchFamily="34" charset="0"/>
              </a:rPr>
              <a:t>CHAPTER 1: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FC2094-F5CC-6647-F47D-2C98822E94C2}"/>
              </a:ext>
            </a:extLst>
          </p:cNvPr>
          <p:cNvSpPr txBox="1"/>
          <p:nvPr/>
        </p:nvSpPr>
        <p:spPr>
          <a:xfrm>
            <a:off x="508000" y="660400"/>
            <a:ext cx="11176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End-to-End System Block Schematic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E730BB-28CF-476D-C020-634AF195C691}"/>
              </a:ext>
            </a:extLst>
          </p:cNvPr>
          <p:cNvSpPr/>
          <p:nvPr/>
        </p:nvSpPr>
        <p:spPr>
          <a:xfrm>
            <a:off x="508000" y="1524000"/>
            <a:ext cx="11176000" cy="46990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1E46A2-1941-89E6-8442-527E0521096B}"/>
              </a:ext>
            </a:extLst>
          </p:cNvPr>
          <p:cNvSpPr txBox="1"/>
          <p:nvPr/>
        </p:nvSpPr>
        <p:spPr>
          <a:xfrm>
            <a:off x="711200" y="1676400"/>
            <a:ext cx="10769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38BDF8"/>
                </a:solidFill>
                <a:latin typeface="Segoe UI" panose="020B0502040204020203" pitchFamily="34" charset="0"/>
              </a:rPr>
              <a:t>Multi-Tier Hybrid Recommendation Pipeline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BD4CE7-39DB-9D14-B3C3-AA22C89D37FA}"/>
              </a:ext>
            </a:extLst>
          </p:cNvPr>
          <p:cNvSpPr txBox="1"/>
          <p:nvPr/>
        </p:nvSpPr>
        <p:spPr>
          <a:xfrm>
            <a:off x="711200" y="2095500"/>
            <a:ext cx="10769600" cy="292387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[USER PROFILE] -&gt; Age, Gender, Height, Weight, Activity Multiplier, Health Goal, Allergies, Budget
       |
       v
[MODULE 1: ANTHROPOMETRIC ENGINE] -&gt; Computes BMR, TDEE &amp; Slot Calorie/Macro Targets
       |
       v
[MODULE 2: HARD CONSTRAINT FILTER] -&gt; Strict Allergen Purge + Dietary Classification (Vegan, Veg, Non-Veg)
       |
       v (Safe Candidate Pool: F_valid)
[MODULE 3: MULTI-OBJECTIVE RANKING] -&gt; 6 Weighted Objectives: Nutrition, Preference, Diet, Cuisine, Diversity, Budget
       |
       v
[MODULE 4: PLAN GENERATOR] -&gt; Daily (3-6 Meals) &amp; 7-Day Anti-Fatigue Weekly Optimizer
       |
       v
[MODULE 5: INTERACTIVE FEEDBACK] -&gt; Like / Fav / Dislike / Replace Updates Weights in Real Time (No Server)</a:t>
            </a:r>
          </a:p>
        </p:txBody>
      </p:sp>
    </p:spTree>
    <p:extLst>
      <p:ext uri="{BB962C8B-B14F-4D97-AF65-F5344CB8AC3E}">
        <p14:creationId xmlns:p14="http://schemas.microsoft.com/office/powerpoint/2010/main" val="3623405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2FDC32-66ED-9E31-6E7D-DB39392D58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B31AF8-C66D-AFB3-7224-D6320294EEA5}"/>
              </a:ext>
            </a:extLst>
          </p:cNvPr>
          <p:cNvSpPr/>
          <p:nvPr/>
        </p:nvSpPr>
        <p:spPr>
          <a:xfrm>
            <a:off x="508000" y="317500"/>
            <a:ext cx="3302000" cy="3048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38BDF8"/>
                </a:solidFill>
                <a:latin typeface="Segoe UI" panose="020B0502040204020203" pitchFamily="34" charset="0"/>
              </a:rPr>
              <a:t>CHAPTER 3: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D1DC6A-700A-F3BF-52F8-891BE6A45C82}"/>
              </a:ext>
            </a:extLst>
          </p:cNvPr>
          <p:cNvSpPr txBox="1"/>
          <p:nvPr/>
        </p:nvSpPr>
        <p:spPr>
          <a:xfrm>
            <a:off x="508000" y="660400"/>
            <a:ext cx="11176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Biophysically Validated Metabolic Modeling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EA5513-E005-BBA2-43D9-D83E3C86F536}"/>
              </a:ext>
            </a:extLst>
          </p:cNvPr>
          <p:cNvSpPr/>
          <p:nvPr/>
        </p:nvSpPr>
        <p:spPr>
          <a:xfrm>
            <a:off x="508000" y="1524000"/>
            <a:ext cx="5334000" cy="469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0BC700-5926-76C1-6984-1B0427875114}"/>
              </a:ext>
            </a:extLst>
          </p:cNvPr>
          <p:cNvSpPr txBox="1"/>
          <p:nvPr/>
        </p:nvSpPr>
        <p:spPr>
          <a:xfrm>
            <a:off x="711200" y="1676400"/>
            <a:ext cx="4927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Mifflin-St Jeor Energy Equations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62E74B-CBAD-CA50-8E33-34330C9ACAE8}"/>
              </a:ext>
            </a:extLst>
          </p:cNvPr>
          <p:cNvSpPr txBox="1"/>
          <p:nvPr/>
        </p:nvSpPr>
        <p:spPr>
          <a:xfrm>
            <a:off x="711200" y="2095500"/>
            <a:ext cx="4927600" cy="203902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1. Basal Metabolic Rate (BMR):
   E_BMR = 10*W + 6.25*H - 5*A + s
   (s = +5 for Males; s = -161 for Females)
2. Total Daily Energy Expenditure (TDEE):
   E_TDEE = E_BMR * alpha
   alpha: Sedentary (1.20) to Extra Active (1.90)
3. Target Daily Calorie Goal:
   E_target = max(1300, E_TDEE + Delta_goal)
   Delta: -500 kcal (Fat Loss) | +400 kcal (Muscle Gain)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566880-EE2F-6590-F1E3-2FA73CD96E39}"/>
              </a:ext>
            </a:extLst>
          </p:cNvPr>
          <p:cNvSpPr/>
          <p:nvPr/>
        </p:nvSpPr>
        <p:spPr>
          <a:xfrm>
            <a:off x="6350000" y="1524000"/>
            <a:ext cx="5334000" cy="46990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056F50-6A6A-D889-F43C-B8962FF35760}"/>
              </a:ext>
            </a:extLst>
          </p:cNvPr>
          <p:cNvSpPr txBox="1"/>
          <p:nvPr/>
        </p:nvSpPr>
        <p:spPr>
          <a:xfrm>
            <a:off x="6553200" y="1676400"/>
            <a:ext cx="4927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38BDF8"/>
                </a:solidFill>
                <a:latin typeface="Segoe UI" panose="020B0502040204020203" pitchFamily="34" charset="0"/>
              </a:rPr>
              <a:t>Dynamic Macronutrient Split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9FECCD-193B-3D10-1CAE-67E8C58B463E}"/>
              </a:ext>
            </a:extLst>
          </p:cNvPr>
          <p:cNvSpPr txBox="1"/>
          <p:nvPr/>
        </p:nvSpPr>
        <p:spPr>
          <a:xfrm>
            <a:off x="6553200" y="2095500"/>
            <a:ext cx="4927600" cy="168507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Configurable Goal-Based Partitions:
- Weight Loss: 35% Protein | 38% Carbs | 27% Fat
- Muscle Gain: 32% Protein | 45% Carbs | 23% Fat
- Blood Sugar: 30% Protein | 35% Carbs | 35% Fat
- Heart Health: 25% Protein | 55% Carbs | 20% Fat
Circadian Multi-Meal Slot Partitions:
- Dynamically adapts to 3, 4, 5, or 6 meals per day with validated circadian caloric ratios.</a:t>
            </a:r>
          </a:p>
        </p:txBody>
      </p:sp>
    </p:spTree>
    <p:extLst>
      <p:ext uri="{BB962C8B-B14F-4D97-AF65-F5344CB8AC3E}">
        <p14:creationId xmlns:p14="http://schemas.microsoft.com/office/powerpoint/2010/main" val="2598996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DB90D6-86B3-3CFE-553C-D23556F045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D50FBD-AF2A-C478-2A46-9D0A7CFFF2D6}"/>
              </a:ext>
            </a:extLst>
          </p:cNvPr>
          <p:cNvSpPr/>
          <p:nvPr/>
        </p:nvSpPr>
        <p:spPr>
          <a:xfrm>
            <a:off x="508000" y="317500"/>
            <a:ext cx="3302000" cy="3048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38BDF8"/>
                </a:solidFill>
                <a:latin typeface="Segoe UI" panose="020B0502040204020203" pitchFamily="34" charset="0"/>
              </a:rPr>
              <a:t>CHAPTER 3: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C0942-16C2-3AAE-F778-7B6F47D1CFE5}"/>
              </a:ext>
            </a:extLst>
          </p:cNvPr>
          <p:cNvSpPr txBox="1"/>
          <p:nvPr/>
        </p:nvSpPr>
        <p:spPr>
          <a:xfrm>
            <a:off x="508000" y="660400"/>
            <a:ext cx="11176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Strict Hard-Constraint Safety Firewall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F3B280-C412-FA19-C0D9-ED02529C04BB}"/>
              </a:ext>
            </a:extLst>
          </p:cNvPr>
          <p:cNvSpPr/>
          <p:nvPr/>
        </p:nvSpPr>
        <p:spPr>
          <a:xfrm>
            <a:off x="508000" y="1524000"/>
            <a:ext cx="5334000" cy="46990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E5BDD2-29A1-CB70-81B0-B2D340A6F2E5}"/>
              </a:ext>
            </a:extLst>
          </p:cNvPr>
          <p:cNvSpPr txBox="1"/>
          <p:nvPr/>
        </p:nvSpPr>
        <p:spPr>
          <a:xfrm>
            <a:off x="711200" y="1676400"/>
            <a:ext cx="4927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38BDF8"/>
                </a:solidFill>
                <a:latin typeface="Segoe UI" panose="020B0502040204020203" pitchFamily="34" charset="0"/>
              </a:rPr>
              <a:t>Zero-Tolerance Allergen Isolation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CC9884-70F3-5457-9846-76EF7FC6CBD9}"/>
              </a:ext>
            </a:extLst>
          </p:cNvPr>
          <p:cNvSpPr txBox="1"/>
          <p:nvPr/>
        </p:nvSpPr>
        <p:spPr>
          <a:xfrm>
            <a:off x="711200" y="2095500"/>
            <a:ext cx="4927600" cy="133113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Deterministic Boolean Filter Function:
   Phi_allergen(f) = (A_user \cap A_food == empty)
- Decouples safety from soft scoring weights.
- Anaphylactic allergens (Peanuts, Dairy, Gluten, Soy, Egg, Fish, Shellfish) are purged BEFORE ranking.
- Guarantees absolute clinical safety compliance (100.0% zero violations).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7A7040-2784-3987-F61C-D0C3D8FE5166}"/>
              </a:ext>
            </a:extLst>
          </p:cNvPr>
          <p:cNvSpPr/>
          <p:nvPr/>
        </p:nvSpPr>
        <p:spPr>
          <a:xfrm>
            <a:off x="6350000" y="1524000"/>
            <a:ext cx="5334000" cy="469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B608AD-9B47-45B5-AA2C-A8CECF234C9A}"/>
              </a:ext>
            </a:extLst>
          </p:cNvPr>
          <p:cNvSpPr txBox="1"/>
          <p:nvPr/>
        </p:nvSpPr>
        <p:spPr>
          <a:xfrm>
            <a:off x="6553200" y="1676400"/>
            <a:ext cx="4927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Dietary Lifestyle Enforcement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D51725-79F8-36C0-B1E4-F260C30CE4FD}"/>
              </a:ext>
            </a:extLst>
          </p:cNvPr>
          <p:cNvSpPr txBox="1"/>
          <p:nvPr/>
        </p:nvSpPr>
        <p:spPr>
          <a:xfrm>
            <a:off x="6553200" y="2095500"/>
            <a:ext cx="4927600" cy="168507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Strict Dietary Boundaries:
- Vegan: Pure plant-based (zero meat, dairy, eggs, honey).
- Vegetarian: Lacto-ovo compliant (zero animal flesh).
- Eggetarian: Allows egg recipes, excludes meat/seafood.
- Non-Vegetarian: Unrestricted animal and plant sources.
Medical &amp; Ingredient Purging:
- Heart Mode single-meal sodium capped &lt;= 600mg.
- Explicitly disliked ingredients discarded completely.</a:t>
            </a:r>
          </a:p>
        </p:txBody>
      </p:sp>
    </p:spTree>
    <p:extLst>
      <p:ext uri="{BB962C8B-B14F-4D97-AF65-F5344CB8AC3E}">
        <p14:creationId xmlns:p14="http://schemas.microsoft.com/office/powerpoint/2010/main" val="1203541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F01953-CDD8-37E4-64ED-27EAC2E4AD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7D0CA0-3F88-31AF-28C3-68B11668FB76}"/>
              </a:ext>
            </a:extLst>
          </p:cNvPr>
          <p:cNvSpPr/>
          <p:nvPr/>
        </p:nvSpPr>
        <p:spPr>
          <a:xfrm>
            <a:off x="508000" y="317500"/>
            <a:ext cx="3302000" cy="3048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38BDF8"/>
                </a:solidFill>
                <a:latin typeface="Segoe UI" panose="020B0502040204020203" pitchFamily="34" charset="0"/>
              </a:rPr>
              <a:t>CHAPTER 3: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B5CB7F-EF4E-5B12-8A42-E2362D1091C3}"/>
              </a:ext>
            </a:extLst>
          </p:cNvPr>
          <p:cNvSpPr txBox="1"/>
          <p:nvPr/>
        </p:nvSpPr>
        <p:spPr>
          <a:xfrm>
            <a:off x="508000" y="660400"/>
            <a:ext cx="11176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Multi-Objective Hybrid Ranking Engine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67B913-5126-5BF4-B2E0-FE2C84FF6C1B}"/>
              </a:ext>
            </a:extLst>
          </p:cNvPr>
          <p:cNvSpPr/>
          <p:nvPr/>
        </p:nvSpPr>
        <p:spPr>
          <a:xfrm>
            <a:off x="508000" y="1524000"/>
            <a:ext cx="11176000" cy="19050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01F8DF-4DA8-B1E2-67A9-2FC830450C9A}"/>
              </a:ext>
            </a:extLst>
          </p:cNvPr>
          <p:cNvSpPr txBox="1"/>
          <p:nvPr/>
        </p:nvSpPr>
        <p:spPr>
          <a:xfrm>
            <a:off x="711200" y="1676400"/>
            <a:ext cx="10769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38BDF8"/>
                </a:solidFill>
                <a:latin typeface="Segoe UI" panose="020B0502040204020203" pitchFamily="34" charset="0"/>
              </a:rPr>
              <a:t>Composite Scoring Formulation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9640EB-AAEF-199F-DBF4-643D93312A90}"/>
              </a:ext>
            </a:extLst>
          </p:cNvPr>
          <p:cNvSpPr txBox="1"/>
          <p:nvPr/>
        </p:nvSpPr>
        <p:spPr>
          <a:xfrm>
            <a:off x="711200" y="2095500"/>
            <a:ext cx="10769600" cy="4001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S_final(f) = w_nut*S_nut + w_pref*S_pref + w_diet*S_diet + w_cuis*S_cuis + w_div*S_div + w_budg*S_budg
Where all dimension scores S_k in [0, 100] and sum of weights w_k = 1.0 (Normalized).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408F89-7742-C29C-5F80-B13DCEB9D886}"/>
              </a:ext>
            </a:extLst>
          </p:cNvPr>
          <p:cNvSpPr/>
          <p:nvPr/>
        </p:nvSpPr>
        <p:spPr>
          <a:xfrm>
            <a:off x="508000" y="3683000"/>
            <a:ext cx="3556000" cy="254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E3DB21-8D10-6934-4416-6C4F15593186}"/>
              </a:ext>
            </a:extLst>
          </p:cNvPr>
          <p:cNvSpPr txBox="1"/>
          <p:nvPr/>
        </p:nvSpPr>
        <p:spPr>
          <a:xfrm>
            <a:off x="711200" y="3835400"/>
            <a:ext cx="3149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Core Macro Objectives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7B6A6D-77B7-57AD-897B-043420CC95FC}"/>
              </a:ext>
            </a:extLst>
          </p:cNvPr>
          <p:cNvSpPr txBox="1"/>
          <p:nvPr/>
        </p:nvSpPr>
        <p:spPr>
          <a:xfrm>
            <a:off x="711200" y="4254500"/>
            <a:ext cx="3149600" cy="754053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- S_nut (35%): Normalized 4D macro distance match.
- S_pref (25%): Real-time learned taste affinities.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4E371A-36FB-F89B-73E6-D9DF2F1F416C}"/>
              </a:ext>
            </a:extLst>
          </p:cNvPr>
          <p:cNvSpPr/>
          <p:nvPr/>
        </p:nvSpPr>
        <p:spPr>
          <a:xfrm>
            <a:off x="4318000" y="3683000"/>
            <a:ext cx="3556000" cy="254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131AF8-F0F9-9664-5588-D0AC3F87C933}"/>
              </a:ext>
            </a:extLst>
          </p:cNvPr>
          <p:cNvSpPr txBox="1"/>
          <p:nvPr/>
        </p:nvSpPr>
        <p:spPr>
          <a:xfrm>
            <a:off x="4521200" y="3835400"/>
            <a:ext cx="3149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Contextual Objectives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BDF090-EA61-3171-0A53-AC7386DD2C37}"/>
              </a:ext>
            </a:extLst>
          </p:cNvPr>
          <p:cNvSpPr txBox="1"/>
          <p:nvPr/>
        </p:nvSpPr>
        <p:spPr>
          <a:xfrm>
            <a:off x="4521200" y="4254500"/>
            <a:ext cx="3149600" cy="4001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- S_diet (15%): Lifestyle compatibility.
- S_cuis (10%): Cuisine tradition match.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BE7344-CDF5-510F-B2BD-977C0CFB5FB4}"/>
              </a:ext>
            </a:extLst>
          </p:cNvPr>
          <p:cNvSpPr/>
          <p:nvPr/>
        </p:nvSpPr>
        <p:spPr>
          <a:xfrm>
            <a:off x="8128000" y="3683000"/>
            <a:ext cx="3556000" cy="254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D9C749-E545-7415-5E9E-85EAD34B46F0}"/>
              </a:ext>
            </a:extLst>
          </p:cNvPr>
          <p:cNvSpPr txBox="1"/>
          <p:nvPr/>
        </p:nvSpPr>
        <p:spPr>
          <a:xfrm>
            <a:off x="8331200" y="3835400"/>
            <a:ext cx="3149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Experience Objectives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A4BBD0-FE2E-7911-4B84-D2A4A7DACEDC}"/>
              </a:ext>
            </a:extLst>
          </p:cNvPr>
          <p:cNvSpPr txBox="1"/>
          <p:nvPr/>
        </p:nvSpPr>
        <p:spPr>
          <a:xfrm>
            <a:off x="8331200" y="4254500"/>
            <a:ext cx="3149600" cy="40011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- S_div (10%): Intra-plan variety control.
- S_budg (5%): Recipe ingredient price tier.</a:t>
            </a:r>
          </a:p>
        </p:txBody>
      </p:sp>
    </p:spTree>
    <p:extLst>
      <p:ext uri="{BB962C8B-B14F-4D97-AF65-F5344CB8AC3E}">
        <p14:creationId xmlns:p14="http://schemas.microsoft.com/office/powerpoint/2010/main" val="3182432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C7E33A-63AA-8220-02F9-546EEAC196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5BDF7E-5CC5-3036-7DBA-A82B5C22C74C}"/>
              </a:ext>
            </a:extLst>
          </p:cNvPr>
          <p:cNvSpPr/>
          <p:nvPr/>
        </p:nvSpPr>
        <p:spPr>
          <a:xfrm>
            <a:off x="508000" y="317500"/>
            <a:ext cx="3302000" cy="3048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38BDF8"/>
                </a:solidFill>
                <a:latin typeface="Segoe UI" panose="020B0502040204020203" pitchFamily="34" charset="0"/>
              </a:rPr>
              <a:t>CHAPTER 3: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6BD5C2-87FF-97D6-527D-B956963AAF36}"/>
              </a:ext>
            </a:extLst>
          </p:cNvPr>
          <p:cNvSpPr txBox="1"/>
          <p:nvPr/>
        </p:nvSpPr>
        <p:spPr>
          <a:xfrm>
            <a:off x="508000" y="660400"/>
            <a:ext cx="11176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Real-Time Preference Learning &amp; Smart Replace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742801-7409-2D92-AB68-9E263EBC1E61}"/>
              </a:ext>
            </a:extLst>
          </p:cNvPr>
          <p:cNvSpPr/>
          <p:nvPr/>
        </p:nvSpPr>
        <p:spPr>
          <a:xfrm>
            <a:off x="508000" y="1524000"/>
            <a:ext cx="5334000" cy="46990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2FF4C8-66C5-C9CA-9782-0F049C9AE577}"/>
              </a:ext>
            </a:extLst>
          </p:cNvPr>
          <p:cNvSpPr txBox="1"/>
          <p:nvPr/>
        </p:nvSpPr>
        <p:spPr>
          <a:xfrm>
            <a:off x="711200" y="1676400"/>
            <a:ext cx="4927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38BDF8"/>
                </a:solidFill>
                <a:latin typeface="Segoe UI" panose="020B0502040204020203" pitchFamily="34" charset="0"/>
              </a:rPr>
              <a:t>Online Weight Adaptation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884229-15B2-CE69-5350-6834FBB05F16}"/>
              </a:ext>
            </a:extLst>
          </p:cNvPr>
          <p:cNvSpPr txBox="1"/>
          <p:nvPr/>
        </p:nvSpPr>
        <p:spPr>
          <a:xfrm>
            <a:off x="711200" y="2095500"/>
            <a:ext cx="4927600" cy="168507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Interactive Real-Time Feedback Loop:
   omega_i &lt;- max(-1.0, min(+1.0, omega_i + Delta_r))
- Like (â¤ï¸): Delta_r = +0.25 on meal ingredients.
- Favorite (â˜…): Delta_r = +0.45 strong positive boost.
- Dislike (ðŸ‘Ž): Delta_r = -0.40 strong suppression.
- Replace (â†»): Delta_r = -0.25 triggers replacement.
No Server Retraining: Updates instantaneous in local browser memory!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81AD56-3C04-5439-A913-072D55E45F13}"/>
              </a:ext>
            </a:extLst>
          </p:cNvPr>
          <p:cNvSpPr/>
          <p:nvPr/>
        </p:nvSpPr>
        <p:spPr>
          <a:xfrm>
            <a:off x="6350000" y="1524000"/>
            <a:ext cx="5334000" cy="469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76DE88-7392-DF1F-1871-A251B6D72332}"/>
              </a:ext>
            </a:extLst>
          </p:cNvPr>
          <p:cNvSpPr txBox="1"/>
          <p:nvPr/>
        </p:nvSpPr>
        <p:spPr>
          <a:xfrm>
            <a:off x="6553200" y="1676400"/>
            <a:ext cx="4927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Smart Macro-Preserving Replacement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1B01A5-B800-4529-1979-0EBB48880376}"/>
              </a:ext>
            </a:extLst>
          </p:cNvPr>
          <p:cNvSpPr txBox="1"/>
          <p:nvPr/>
        </p:nvSpPr>
        <p:spPr>
          <a:xfrm>
            <a:off x="6553200" y="2095500"/>
            <a:ext cx="4927600" cy="1331134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When a user rejects a recommended meal:
1. Purges rejected dish from candidate pool.
2. Computes 4D Euclidean distance to rejected macro vector:
   D_macro = sqrt(0.40*Dc^2 + 0.35*Dp^2 + 0.15*Dcb^2 + 0.10*Df^2)
3. Finds alternative meal with minimal macro delta.
4. Displays live delta modal:
   Delta Calories: +15 kcal | Delta Protein: -2g</a:t>
            </a:r>
          </a:p>
        </p:txBody>
      </p:sp>
    </p:spTree>
    <p:extLst>
      <p:ext uri="{BB962C8B-B14F-4D97-AF65-F5344CB8AC3E}">
        <p14:creationId xmlns:p14="http://schemas.microsoft.com/office/powerpoint/2010/main" val="4153937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5F6B1E-4497-54FD-64BF-35010FE3AC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6656CF-DE74-35AF-74A0-9ED20603F403}"/>
              </a:ext>
            </a:extLst>
          </p:cNvPr>
          <p:cNvSpPr/>
          <p:nvPr/>
        </p:nvSpPr>
        <p:spPr>
          <a:xfrm>
            <a:off x="508000" y="317500"/>
            <a:ext cx="3302000" cy="3048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38BDF8"/>
                </a:solidFill>
                <a:latin typeface="Segoe UI" panose="020B0502040204020203" pitchFamily="34" charset="0"/>
              </a:rPr>
              <a:t>CHAPTER 3: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96C545-871A-3850-B604-156E6FA9EE23}"/>
              </a:ext>
            </a:extLst>
          </p:cNvPr>
          <p:cNvSpPr txBox="1"/>
          <p:nvPr/>
        </p:nvSpPr>
        <p:spPr>
          <a:xfrm>
            <a:off x="508000" y="660400"/>
            <a:ext cx="11176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Anti-Fatigue Diversity &amp; Explainable AI (XAI)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E37E66-99D3-02FD-8B44-2F4848E5544E}"/>
              </a:ext>
            </a:extLst>
          </p:cNvPr>
          <p:cNvSpPr/>
          <p:nvPr/>
        </p:nvSpPr>
        <p:spPr>
          <a:xfrm>
            <a:off x="508000" y="1524000"/>
            <a:ext cx="5334000" cy="469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DB7E8E-B337-B9CC-0013-596A969D71A1}"/>
              </a:ext>
            </a:extLst>
          </p:cNvPr>
          <p:cNvSpPr txBox="1"/>
          <p:nvPr/>
        </p:nvSpPr>
        <p:spPr>
          <a:xfrm>
            <a:off x="711200" y="1676400"/>
            <a:ext cx="4927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Anti-Fatigue Diversity Engine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F72977-DE9C-00A4-B230-644B47591AE1}"/>
              </a:ext>
            </a:extLst>
          </p:cNvPr>
          <p:cNvSpPr txBox="1"/>
          <p:nvPr/>
        </p:nvSpPr>
        <p:spPr>
          <a:xfrm>
            <a:off x="711200" y="2095500"/>
            <a:ext cx="4927600" cy="186204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Eliminates Repetitive Meal Monotony:
1. Exact Dish Duplication Penalty:
   S_div = 15/100 if identical dish exists today.
2. Jaccard Ingredient Overlap Penalty:
   Penalizes shared dominant ingredients across meals (e.g. paneer in lunch &amp; dinner).
3. Consecutive-Day Damping:
   Discourages identical meals across 7-day plan.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09B76E-E42C-53B4-D50D-D6E0318EBEE3}"/>
              </a:ext>
            </a:extLst>
          </p:cNvPr>
          <p:cNvSpPr/>
          <p:nvPr/>
        </p:nvSpPr>
        <p:spPr>
          <a:xfrm>
            <a:off x="6350000" y="1524000"/>
            <a:ext cx="5334000" cy="46990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F1039E-E8AD-2E4B-8B94-42412B56BFED}"/>
              </a:ext>
            </a:extLst>
          </p:cNvPr>
          <p:cNvSpPr txBox="1"/>
          <p:nvPr/>
        </p:nvSpPr>
        <p:spPr>
          <a:xfrm>
            <a:off x="6553200" y="1676400"/>
            <a:ext cx="4927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38BDF8"/>
                </a:solidFill>
                <a:latin typeface="Segoe UI" panose="020B0502040204020203" pitchFamily="34" charset="0"/>
              </a:rPr>
              <a:t>Transparent Explainability (XAI)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A748A1-FAC1-B90B-FAA0-2FCC853A3B61}"/>
              </a:ext>
            </a:extLst>
          </p:cNvPr>
          <p:cNvSpPr txBox="1"/>
          <p:nvPr/>
        </p:nvSpPr>
        <p:spPr>
          <a:xfrm>
            <a:off x="6553200" y="2095500"/>
            <a:ext cx="4927600" cy="110799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Fosters User Trust &amp; Adherence:
- Every recommended dish displays clear natural language justifications:
  * 'Accurately fits your breakfast target (340 kcal, 12g protein)'
  * 'High protein source supporting your muscle gain goal'
  * 'Verified 100% compliant with your Vegan lifestyle'
  * 'Free from your declared allergens (Peanuts, Dairy)'</a:t>
            </a:r>
          </a:p>
        </p:txBody>
      </p:sp>
    </p:spTree>
    <p:extLst>
      <p:ext uri="{BB962C8B-B14F-4D97-AF65-F5344CB8AC3E}">
        <p14:creationId xmlns:p14="http://schemas.microsoft.com/office/powerpoint/2010/main" val="319749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BE66E6-DEB5-7726-17BC-C3E3CC4C37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12E6EC-4BC5-2C31-9883-D1D0DBFCE7BE}"/>
              </a:ext>
            </a:extLst>
          </p:cNvPr>
          <p:cNvSpPr/>
          <p:nvPr/>
        </p:nvSpPr>
        <p:spPr>
          <a:xfrm>
            <a:off x="508000" y="317500"/>
            <a:ext cx="3302000" cy="3048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38BDF8"/>
                </a:solidFill>
                <a:latin typeface="Segoe UI" panose="020B0502040204020203" pitchFamily="34" charset="0"/>
              </a:rPr>
              <a:t>CHAPTER 4: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58A3E-4257-A7FE-A7CB-F88978C9D108}"/>
              </a:ext>
            </a:extLst>
          </p:cNvPr>
          <p:cNvSpPr txBox="1"/>
          <p:nvPr/>
        </p:nvSpPr>
        <p:spPr>
          <a:xfrm>
            <a:off x="508000" y="660400"/>
            <a:ext cx="11176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Experimental Cohorts &amp; Diverse Test Personas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AAAB88-D54A-E764-5ECA-EA7729D71215}"/>
              </a:ext>
            </a:extLst>
          </p:cNvPr>
          <p:cNvSpPr/>
          <p:nvPr/>
        </p:nvSpPr>
        <p:spPr>
          <a:xfrm>
            <a:off x="508000" y="1524000"/>
            <a:ext cx="3556000" cy="469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87EFEC-F526-36EE-1447-0BB72B052BA0}"/>
              </a:ext>
            </a:extLst>
          </p:cNvPr>
          <p:cNvSpPr txBox="1"/>
          <p:nvPr/>
        </p:nvSpPr>
        <p:spPr>
          <a:xfrm>
            <a:off x="711200" y="1676400"/>
            <a:ext cx="3149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Cohort A: Arun Kumar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4804E6-BAE8-277D-087C-DD95A65290EC}"/>
              </a:ext>
            </a:extLst>
          </p:cNvPr>
          <p:cNvSpPr txBox="1"/>
          <p:nvPr/>
        </p:nvSpPr>
        <p:spPr>
          <a:xfrm>
            <a:off x="711200" y="2095500"/>
            <a:ext cx="3149600" cy="150810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- Age / Gender: 24y / Male
- Activity: Moderately Active (1.55)
- Diet: Non-Vegetarian
- Cuisine: South Indian
- Schedule: 5 Meals / Day
- Goal: High-Protein Fat Loss (-500 kcal)
- Allergies: None
- BMR: 1735 kcal | Target: 2189 kcal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18A5CF-A9EB-78A2-887D-E53CF2AD365D}"/>
              </a:ext>
            </a:extLst>
          </p:cNvPr>
          <p:cNvSpPr/>
          <p:nvPr/>
        </p:nvSpPr>
        <p:spPr>
          <a:xfrm>
            <a:off x="4318000" y="1524000"/>
            <a:ext cx="3556000" cy="46990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473E81-7533-9632-DE32-7DF525194423}"/>
              </a:ext>
            </a:extLst>
          </p:cNvPr>
          <p:cNvSpPr txBox="1"/>
          <p:nvPr/>
        </p:nvSpPr>
        <p:spPr>
          <a:xfrm>
            <a:off x="4521200" y="1676400"/>
            <a:ext cx="3149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38BDF8"/>
                </a:solidFill>
                <a:latin typeface="Segoe UI" panose="020B0502040204020203" pitchFamily="34" charset="0"/>
              </a:rPr>
              <a:t>Cohort B: Priya Sharma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416A-6C88-8810-D930-3FC55F0B9BC9}"/>
              </a:ext>
            </a:extLst>
          </p:cNvPr>
          <p:cNvSpPr txBox="1"/>
          <p:nvPr/>
        </p:nvSpPr>
        <p:spPr>
          <a:xfrm>
            <a:off x="4521200" y="2095500"/>
            <a:ext cx="3149600" cy="150810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- Age / Gender: 28y / Female
- Activity: Lightly Active (1.375)
- Diet: Strict Vegan
- Mode: Blood-Sugar-Conscious
- Schedule: 4 Meals / Day
- Goal: Healthy Maintenance
- ALLERGIES: Peanuts, Dairy
- BMR: 1334 kcal | Target: 1834 kcal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A4D445-8949-62F9-5784-DBD782989B4D}"/>
              </a:ext>
            </a:extLst>
          </p:cNvPr>
          <p:cNvSpPr/>
          <p:nvPr/>
        </p:nvSpPr>
        <p:spPr>
          <a:xfrm>
            <a:off x="8128000" y="1524000"/>
            <a:ext cx="3556000" cy="469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8CFFD6-EDDA-32ED-37E7-5435E5891F1F}"/>
              </a:ext>
            </a:extLst>
          </p:cNvPr>
          <p:cNvSpPr txBox="1"/>
          <p:nvPr/>
        </p:nvSpPr>
        <p:spPr>
          <a:xfrm>
            <a:off x="8331200" y="1676400"/>
            <a:ext cx="3149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Cohort C: Rohan Varma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69D7B0-1CF4-EEAD-9E3B-214FE8E3DC08}"/>
              </a:ext>
            </a:extLst>
          </p:cNvPr>
          <p:cNvSpPr txBox="1"/>
          <p:nvPr/>
        </p:nvSpPr>
        <p:spPr>
          <a:xfrm>
            <a:off x="8331200" y="2095500"/>
            <a:ext cx="3149600" cy="150810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- Age / Gender: 31y / Male
- Activity: Very Active (1.725)
- Diet: Eggetarian
- Cuisine: North Indian
- Schedule: 6 Meals / Day
- Goal: Muscle Hypertrophy (+400 kcal)
- ALLERGIES: Fish / Seafood
- BMR: 1848 kcal | Target: 3588 kcal</a:t>
            </a:r>
          </a:p>
        </p:txBody>
      </p:sp>
    </p:spTree>
    <p:extLst>
      <p:ext uri="{BB962C8B-B14F-4D97-AF65-F5344CB8AC3E}">
        <p14:creationId xmlns:p14="http://schemas.microsoft.com/office/powerpoint/2010/main" val="494636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6A8948-BC1C-0C13-9DD5-AD8F2C62328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CFDA01-0FE5-850F-30EE-4223A9820FC2}"/>
              </a:ext>
            </a:extLst>
          </p:cNvPr>
          <p:cNvSpPr/>
          <p:nvPr/>
        </p:nvSpPr>
        <p:spPr>
          <a:xfrm>
            <a:off x="508000" y="317500"/>
            <a:ext cx="3302000" cy="3048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38BDF8"/>
                </a:solidFill>
                <a:latin typeface="Segoe UI" panose="020B0502040204020203" pitchFamily="34" charset="0"/>
              </a:rPr>
              <a:t>CHAPTER 4: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6CA5DC-F3CF-599D-4E26-6BBD4A7464EA}"/>
              </a:ext>
            </a:extLst>
          </p:cNvPr>
          <p:cNvSpPr txBox="1"/>
          <p:nvPr/>
        </p:nvSpPr>
        <p:spPr>
          <a:xfrm>
            <a:off x="508000" y="660400"/>
            <a:ext cx="11176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Empirical Benchmark: Baseline vs. Proposed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1950B1-C1E5-D84B-1CFD-4F1646BF6072}"/>
              </a:ext>
            </a:extLst>
          </p:cNvPr>
          <p:cNvSpPr/>
          <p:nvPr/>
        </p:nvSpPr>
        <p:spPr>
          <a:xfrm>
            <a:off x="508000" y="1524000"/>
            <a:ext cx="5334000" cy="46990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05D429-3219-ED7F-B168-7058E42BC962}"/>
              </a:ext>
            </a:extLst>
          </p:cNvPr>
          <p:cNvSpPr txBox="1"/>
          <p:nvPr/>
        </p:nvSpPr>
        <p:spPr>
          <a:xfrm>
            <a:off x="711200" y="1676400"/>
            <a:ext cx="4927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38BDF8"/>
                </a:solidFill>
                <a:latin typeface="Segoe UI" panose="020B0502040204020203" pitchFamily="34" charset="0"/>
              </a:rPr>
              <a:t>Quantitative Benchmark Metrics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543C75-2AB8-0BF4-27A1-8D30CF335CEF}"/>
              </a:ext>
            </a:extLst>
          </p:cNvPr>
          <p:cNvSpPr txBox="1"/>
          <p:nvPr/>
        </p:nvSpPr>
        <p:spPr>
          <a:xfrm>
            <a:off x="711200" y="2095500"/>
            <a:ext cx="4927600" cy="168507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Metric               Baseline   Proposed   Improvement
-------------------------------------------------------
Precision@5           0.61       0.92      +50.8%
Recall@5              0.54       0.88      +62.9%
NDCG@5                0.59       0.91      +54.2%
Allergen Safety      74.2%      100.0%     +25.8% (Safe)
Macro Deviation      18.4%       6.2%      -12.2% (Error)
Plan Diversity       48.0%      94.0%      +46.0% (Variety)
Preference Satis.    42.5%      88.0%      +45.5% (Palate)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EC36AA-036F-5CFE-03E7-23D264281AEA}"/>
              </a:ext>
            </a:extLst>
          </p:cNvPr>
          <p:cNvSpPr/>
          <p:nvPr/>
        </p:nvSpPr>
        <p:spPr>
          <a:xfrm>
            <a:off x="6350000" y="1524000"/>
            <a:ext cx="5334000" cy="469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2120B1-F414-74F7-44ED-0763BE1209EB}"/>
              </a:ext>
            </a:extLst>
          </p:cNvPr>
          <p:cNvSpPr txBox="1"/>
          <p:nvPr/>
        </p:nvSpPr>
        <p:spPr>
          <a:xfrm>
            <a:off x="6553200" y="1676400"/>
            <a:ext cx="4927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Key Benchmark Takeaways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B063FC-BA05-74FB-8BF0-E76F33B25501}"/>
              </a:ext>
            </a:extLst>
          </p:cNvPr>
          <p:cNvSpPr txBox="1"/>
          <p:nvPr/>
        </p:nvSpPr>
        <p:spPr>
          <a:xfrm>
            <a:off x="6553200" y="2095500"/>
            <a:ext cx="4927600" cy="186204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1. 100% Allergen Compliance:
   Zero violations in proposed model vs. 25.8% critical failure rate in baseline KNN.
2. 6.2% Nutritional Target Error:
   Caloric and protein MAPE reduced by -66.3% without artificial serving fractions.
3. 94.0% Intra-Plan Diversity:
   Completely eliminates repetitive identical meal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797728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E50834-1607-1EC7-D53D-21CC7408A6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7EE824-8FD5-4ADA-91D9-5AAF8399CF3C}"/>
              </a:ext>
            </a:extLst>
          </p:cNvPr>
          <p:cNvSpPr/>
          <p:nvPr/>
        </p:nvSpPr>
        <p:spPr>
          <a:xfrm>
            <a:off x="508000" y="317500"/>
            <a:ext cx="3302000" cy="3048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38BDF8"/>
                </a:solidFill>
                <a:latin typeface="Segoe UI" panose="020B0502040204020203" pitchFamily="34" charset="0"/>
              </a:rPr>
              <a:t>CHAPTER 4: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7C7F29-5713-B531-82A0-6C80D87FDD16}"/>
              </a:ext>
            </a:extLst>
          </p:cNvPr>
          <p:cNvSpPr txBox="1"/>
          <p:nvPr/>
        </p:nvSpPr>
        <p:spPr>
          <a:xfrm>
            <a:off x="508000" y="660400"/>
            <a:ext cx="11176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Component-Wise Ablation Study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91E618-42E0-75C5-A0AF-8C6A2C1DF85A}"/>
              </a:ext>
            </a:extLst>
          </p:cNvPr>
          <p:cNvSpPr/>
          <p:nvPr/>
        </p:nvSpPr>
        <p:spPr>
          <a:xfrm>
            <a:off x="508000" y="1524000"/>
            <a:ext cx="11176000" cy="46990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A882C7-3CBE-CED6-DFE9-2F22F1AB6095}"/>
              </a:ext>
            </a:extLst>
          </p:cNvPr>
          <p:cNvSpPr txBox="1"/>
          <p:nvPr/>
        </p:nvSpPr>
        <p:spPr>
          <a:xfrm>
            <a:off x="711200" y="1676400"/>
            <a:ext cx="10769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38BDF8"/>
                </a:solidFill>
                <a:latin typeface="Segoe UI" panose="020B0502040204020203" pitchFamily="34" charset="0"/>
              </a:rPr>
              <a:t>Ablation Performance Matrix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7B5A59-059E-8E7A-097E-F16E80BB1CF1}"/>
              </a:ext>
            </a:extLst>
          </p:cNvPr>
          <p:cNvSpPr txBox="1"/>
          <p:nvPr/>
        </p:nvSpPr>
        <p:spPr>
          <a:xfrm>
            <a:off x="711200" y="2095500"/>
            <a:ext cx="10769600" cy="1862048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Model Configuration          Prec@5  NDCG@5  Allergen Safety  Macro MAPE  Diversity  Preference
--------------------------------------------------------------------------------------------------
Model 1: Full Proposed       0.92    0.91    100.0% (Safe)    6.2%        94.0%      88.0%
Model 2: w/o Hard Filter     0.78    0.76     79.4% (FAILED)  7.1%        89.0%      82.5%
Model 3: w/o Preference Lrn  0.79    0.77    100.0%           6.5%        91.0%      54.0% (FAILED)
Model 4: w/o Diversity       0.86    0.83    100.0%           5.9%        51.0% (F)  76.0%
Model 5: w/o Smart Replace   0.84    0.81    100.0%          14.8% (HIGH) 86.0%      71.0%
Model 6: Pure Baseline KNN   0.61    0.59     74.2% (DANGER) 18.4%        48.0%      42.5%
Key Takeaway: Every individual architectural module is statistically validated as indispensable.</a:t>
            </a:r>
          </a:p>
        </p:txBody>
      </p:sp>
    </p:spTree>
    <p:extLst>
      <p:ext uri="{BB962C8B-B14F-4D97-AF65-F5344CB8AC3E}">
        <p14:creationId xmlns:p14="http://schemas.microsoft.com/office/powerpoint/2010/main" val="2311310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66D571-D046-15AE-1D20-658CFD65CC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AC5A44-551D-790F-8C43-D2654DF2611F}"/>
              </a:ext>
            </a:extLst>
          </p:cNvPr>
          <p:cNvSpPr/>
          <p:nvPr/>
        </p:nvSpPr>
        <p:spPr>
          <a:xfrm>
            <a:off x="508000" y="317500"/>
            <a:ext cx="3302000" cy="3048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38BDF8"/>
                </a:solidFill>
                <a:latin typeface="Segoe UI" panose="020B0502040204020203" pitchFamily="34" charset="0"/>
              </a:rPr>
              <a:t>CHAPTER 1 &amp;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5B18BB-D5E4-34D2-D014-954C86DDB765}"/>
              </a:ext>
            </a:extLst>
          </p:cNvPr>
          <p:cNvSpPr txBox="1"/>
          <p:nvPr/>
        </p:nvSpPr>
        <p:spPr>
          <a:xfrm>
            <a:off x="508000" y="660400"/>
            <a:ext cx="11176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Cost Efficiency &amp; Zero-Cloud Privacy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A23694-7D4A-2113-E118-DA2B093B5DCF}"/>
              </a:ext>
            </a:extLst>
          </p:cNvPr>
          <p:cNvSpPr/>
          <p:nvPr/>
        </p:nvSpPr>
        <p:spPr>
          <a:xfrm>
            <a:off x="508000" y="1524000"/>
            <a:ext cx="5334000" cy="46990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E4D455-031D-4D32-E73D-4D880F8E3CF3}"/>
              </a:ext>
            </a:extLst>
          </p:cNvPr>
          <p:cNvSpPr txBox="1"/>
          <p:nvPr/>
        </p:nvSpPr>
        <p:spPr>
          <a:xfrm>
            <a:off x="711200" y="1676400"/>
            <a:ext cx="4927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38BDF8"/>
                </a:solidFill>
                <a:latin typeface="Segoe UI" panose="020B0502040204020203" pitchFamily="34" charset="0"/>
              </a:rPr>
              <a:t>100% Client-Side Privacy Protection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5104E1-5147-112C-E84E-9D707069390C}"/>
              </a:ext>
            </a:extLst>
          </p:cNvPr>
          <p:cNvSpPr txBox="1"/>
          <p:nvPr/>
        </p:nvSpPr>
        <p:spPr>
          <a:xfrm>
            <a:off x="711200" y="2095500"/>
            <a:ext cx="4927600" cy="2039020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- ZERO Biometric Data Transmission:
  All weight, age, health conditions and food interaction logs remain strictly in browser localStorage.
- Protected Health Information (PHI) Compliant:
  Zero exposure to remote server breaches or third-party commercial data scraping.
- Instant Execution Latency:
  Recommendation generation executes in &lt; 15ms locally without network latency.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299F68-4134-AC05-C7A2-102C38653058}"/>
              </a:ext>
            </a:extLst>
          </p:cNvPr>
          <p:cNvSpPr/>
          <p:nvPr/>
        </p:nvSpPr>
        <p:spPr>
          <a:xfrm>
            <a:off x="6350000" y="1524000"/>
            <a:ext cx="5334000" cy="469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554C5C-2C0B-62D3-F13D-B5C721F901A2}"/>
              </a:ext>
            </a:extLst>
          </p:cNvPr>
          <p:cNvSpPr txBox="1"/>
          <p:nvPr/>
        </p:nvSpPr>
        <p:spPr>
          <a:xfrm>
            <a:off x="6553200" y="1676400"/>
            <a:ext cx="4927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Zero Recurring Operational Expenditure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887539-F697-38F8-9DEC-4FCA3A3AED8D}"/>
              </a:ext>
            </a:extLst>
          </p:cNvPr>
          <p:cNvSpPr txBox="1"/>
          <p:nvPr/>
        </p:nvSpPr>
        <p:spPr>
          <a:xfrm>
            <a:off x="6553200" y="2095500"/>
            <a:ext cx="4927600" cy="1508105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Annual Cost Comparison:
- Commercial Cloud App: ,040 - ,000+ / year
  (AWS EC2, Cloud SQL, Auth0, Spoonacular API)
- Proposed Client-Side Framework: .00 / year
  (Static browser execution, zero server footprint)
Complete Economic Sustainability for Users &amp; Deployers!</a:t>
            </a:r>
          </a:p>
        </p:txBody>
      </p:sp>
    </p:spTree>
    <p:extLst>
      <p:ext uri="{BB962C8B-B14F-4D97-AF65-F5344CB8AC3E}">
        <p14:creationId xmlns:p14="http://schemas.microsoft.com/office/powerpoint/2010/main" val="410934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F67535-6253-B831-6547-11C80285CE2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B92ADC-D2DD-E11B-B155-102D41C8A42E}"/>
              </a:ext>
            </a:extLst>
          </p:cNvPr>
          <p:cNvSpPr/>
          <p:nvPr/>
        </p:nvSpPr>
        <p:spPr>
          <a:xfrm>
            <a:off x="508000" y="317500"/>
            <a:ext cx="3302000" cy="304800"/>
          </a:xfrm>
          <a:prstGeom prst="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rgbClr val="38BDF8"/>
                </a:solidFill>
                <a:latin typeface="Segoe UI" panose="020B0502040204020203" pitchFamily="34" charset="0"/>
              </a:rPr>
              <a:t>FINAL CHAPTER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88F036-CEF2-ABD7-C189-766300105858}"/>
              </a:ext>
            </a:extLst>
          </p:cNvPr>
          <p:cNvSpPr txBox="1"/>
          <p:nvPr/>
        </p:nvSpPr>
        <p:spPr>
          <a:xfrm>
            <a:off x="508000" y="660400"/>
            <a:ext cx="11176000" cy="415498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Conclusion &amp; Future Research Directions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B195A4-887F-DDCA-4887-5EE177531815}"/>
              </a:ext>
            </a:extLst>
          </p:cNvPr>
          <p:cNvSpPr/>
          <p:nvPr/>
        </p:nvSpPr>
        <p:spPr>
          <a:xfrm>
            <a:off x="508000" y="1524000"/>
            <a:ext cx="5334000" cy="4699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AD1769-81FA-EB36-AC7E-E03F942F51C8}"/>
              </a:ext>
            </a:extLst>
          </p:cNvPr>
          <p:cNvSpPr txBox="1"/>
          <p:nvPr/>
        </p:nvSpPr>
        <p:spPr>
          <a:xfrm>
            <a:off x="711200" y="1676400"/>
            <a:ext cx="4927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Project 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F51D7A-6E13-4B5B-6CC6-627ADF557220}"/>
              </a:ext>
            </a:extLst>
          </p:cNvPr>
          <p:cNvSpPr txBox="1"/>
          <p:nvPr/>
        </p:nvSpPr>
        <p:spPr>
          <a:xfrm>
            <a:off x="711200" y="2095500"/>
            <a:ext cx="4927600" cy="110799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- Successfully resolved the historical trade-off between nutritional precision and culinary satisfaction.
- Achieved 100.0% allergen safety, 0.92 Precision@5, and 6.2% macro deviation error.
- Delivered a zero-cost, privacy-first web application running seamlessly across all modern browsers.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634643-70FA-5868-B2ED-DD950B78326E}"/>
              </a:ext>
            </a:extLst>
          </p:cNvPr>
          <p:cNvSpPr/>
          <p:nvPr/>
        </p:nvSpPr>
        <p:spPr>
          <a:xfrm>
            <a:off x="6350000" y="1524000"/>
            <a:ext cx="5334000" cy="469900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7569CB-108F-6738-4269-9C7BF7320142}"/>
              </a:ext>
            </a:extLst>
          </p:cNvPr>
          <p:cNvSpPr txBox="1"/>
          <p:nvPr/>
        </p:nvSpPr>
        <p:spPr>
          <a:xfrm>
            <a:off x="6553200" y="1676400"/>
            <a:ext cx="4927600" cy="276999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1500" b="1">
                <a:solidFill>
                  <a:srgbClr val="38BDF8"/>
                </a:solidFill>
                <a:latin typeface="Segoe UI" panose="020B0502040204020203" pitchFamily="34" charset="0"/>
              </a:rPr>
              <a:t>Future Scope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CCA267-4A51-E0C2-1DC7-F021AE1081D4}"/>
              </a:ext>
            </a:extLst>
          </p:cNvPr>
          <p:cNvSpPr txBox="1"/>
          <p:nvPr/>
        </p:nvSpPr>
        <p:spPr>
          <a:xfrm>
            <a:off x="6553200" y="2095500"/>
            <a:ext cx="4927600" cy="1685077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en-US" sz="1150">
                <a:solidFill>
                  <a:srgbClr val="949FB8"/>
                </a:solidFill>
                <a:latin typeface="Segoe UI" panose="020B0502040204020203" pitchFamily="34" charset="0"/>
              </a:rPr>
              <a:t>1. IoT Sensor Telemetry:
   Integrate Continuous Glucose Monitors (CGM) via Web Bluetooth for live glycemic carb adjustment.
2. Computer Vision Meal Recognition:
   Browser-based MobileNet for automated photo logging.
3. Micronutrient Bioavailability:
   Track iron, zinc, B12 and gut microbiome fermentation.</a:t>
            </a:r>
          </a:p>
        </p:txBody>
      </p:sp>
    </p:spTree>
    <p:extLst>
      <p:ext uri="{BB962C8B-B14F-4D97-AF65-F5344CB8AC3E}">
        <p14:creationId xmlns:p14="http://schemas.microsoft.com/office/powerpoint/2010/main" val="4197383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327C4A-6AEC-59F8-FBFB-1DF3DDA99F8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538EE4-AB72-9577-92F0-95BAD3FD8CCC}"/>
              </a:ext>
            </a:extLst>
          </p:cNvPr>
          <p:cNvSpPr txBox="1"/>
          <p:nvPr/>
        </p:nvSpPr>
        <p:spPr>
          <a:xfrm>
            <a:off x="508000" y="2286000"/>
            <a:ext cx="11176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4800" b="1">
                <a:solidFill>
                  <a:srgbClr val="FFFFFF"/>
                </a:solidFill>
                <a:latin typeface="Segoe UI" panose="020B0502040204020203" pitchFamily="34" charset="0"/>
              </a:rPr>
              <a:t>Thank You!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A08340-C206-4DD8-A4F2-EEF5DE73B962}"/>
              </a:ext>
            </a:extLst>
          </p:cNvPr>
          <p:cNvSpPr txBox="1"/>
          <p:nvPr/>
        </p:nvSpPr>
        <p:spPr>
          <a:xfrm>
            <a:off x="508000" y="3429000"/>
            <a:ext cx="11176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000">
                <a:solidFill>
                  <a:srgbClr val="38BDF8"/>
                </a:solidFill>
                <a:latin typeface="Segoe UI" panose="020B0502040204020203" pitchFamily="34" charset="0"/>
              </a:rPr>
              <a:t>Questions &amp; Academic Discussion</a:t>
            </a:r>
          </a:p>
        </p:txBody>
      </p:sp>
    </p:spTree>
    <p:extLst>
      <p:ext uri="{BB962C8B-B14F-4D97-AF65-F5344CB8AC3E}">
        <p14:creationId xmlns:p14="http://schemas.microsoft.com/office/powerpoint/2010/main" val="496727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2458</Words>
  <Application>Microsoft Office PowerPoint</Application>
  <PresentationFormat>Custom</PresentationFormat>
  <Paragraphs>98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Bharathvikraman E</dc:creator>
  <cp:lastModifiedBy>Bharathvikraman E</cp:lastModifiedBy>
  <cp:revision>1</cp:revision>
  <dcterms:created xsi:type="dcterms:W3CDTF">2026-10-29T17:09:28Z</dcterms:created>
  <dcterms:modified xsi:type="dcterms:W3CDTF">2026-10-29T17:09:28Z</dcterms:modified>
</cp:coreProperties>
</file>